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66" r:id="rId3"/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1365" cy="6858000"/>
  <p:notesSz cx="6858000" cy="12191365"/>
  <p:embeddedFontLst>
    <p:embeddedFont>
      <p:font typeface="DM Mono Medium" panose="020B0609040201040103" pitchFamily="34" charset="0"/>
      <p:regular r:id="rId18"/>
    </p:embeddedFont>
    <p:embeddedFont>
      <p:font typeface="DM Mono Medium" panose="020B0609040201040103" pitchFamily="34" charset="-122"/>
      <p:regular r:id="rId19"/>
    </p:embeddedFont>
    <p:embeddedFont>
      <p:font typeface="DM Mono Medium" panose="020B0609040201040103" pitchFamily="34" charset="-120"/>
      <p:regular r:id="rId20"/>
    </p:embeddedFont>
    <p:embeddedFont>
      <p:font typeface="Rubik SemiBold" pitchFamily="34" charset="0"/>
      <p:bold r:id="rId21"/>
    </p:embeddedFont>
    <p:embeddedFont>
      <p:font typeface="Rubik SemiBold" pitchFamily="34" charset="-122"/>
      <p:bold r:id="rId22"/>
    </p:embeddedFont>
    <p:embeddedFont>
      <p:font typeface="Rubik SemiBold" pitchFamily="34" charset="-120"/>
      <p:bold r:id="rId23"/>
    </p:embeddedFont>
    <p:embeddedFont>
      <p:font typeface="Atkinson Hyperlegible Next" pitchFamily="34" charset="0"/>
      <p:regular r:id="rId24"/>
    </p:embeddedFont>
    <p:embeddedFont>
      <p:font typeface="Atkinson Hyperlegible Next" pitchFamily="34" charset="-122"/>
      <p:regular r:id="rId25"/>
    </p:embeddedFont>
    <p:embeddedFont>
      <p:font typeface="Atkinson Hyperlegible Next" pitchFamily="34" charset="-120"/>
      <p:regular r:id="rId26"/>
    </p:embeddedFont>
    <p:embeddedFont>
      <p:font typeface="Rubik Bold" pitchFamily="34" charset="0"/>
      <p:bold r:id="rId27"/>
    </p:embeddedFont>
    <p:embeddedFont>
      <p:font typeface="Rubik Bold" pitchFamily="34" charset="-122"/>
      <p:bold r:id="rId28"/>
    </p:embeddedFont>
    <p:embeddedFont>
      <p:font typeface="Rubik Bold" pitchFamily="34" charset="-120"/>
      <p:bold r:id="rId29"/>
    </p:embeddedFont>
    <p:embeddedFont>
      <p:font typeface="Atkinson Hyperlegible Next Bold" pitchFamily="34" charset="0"/>
      <p:bold r:id="rId30"/>
    </p:embeddedFont>
    <p:embeddedFont>
      <p:font typeface="Atkinson Hyperlegible Next Bold" pitchFamily="34" charset="-122"/>
      <p:bold r:id="rId31"/>
    </p:embeddedFont>
    <p:embeddedFont>
      <p:font typeface="Atkinson Hyperlegible Next Bold" pitchFamily="34" charset="-120"/>
      <p:bold r:id="rId32"/>
    </p:embeddedFont>
    <p:embeddedFont>
      <p:font typeface="Atkinson Hyperlegible Next Medium" pitchFamily="34" charset="0"/>
      <p:regular r:id="rId33"/>
    </p:embeddedFont>
    <p:embeddedFont>
      <p:font typeface="Atkinson Hyperlegible Next Medium" pitchFamily="34" charset="-122"/>
      <p:regular r:id="rId34"/>
    </p:embeddedFont>
    <p:embeddedFont>
      <p:font typeface="Atkinson Hyperlegible Next Medium" pitchFamily="34" charset="-120"/>
      <p:regular r:id="rId35"/>
    </p:embeddedFont>
    <p:embeddedFont>
      <p:font typeface="Calibri" panose="020F0502020204030204" charset="0"/>
      <p:regular r:id="rId36"/>
      <p:bold r:id="rId37"/>
      <p:italic r:id="rId38"/>
      <p:boldItalic r:id="rId3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font" Target="fonts/font9.fntdata"/><Relationship Id="rId27" Type="http://schemas.openxmlformats.org/officeDocument/2006/relationships/font" Target="fonts/font10.fntdata"/><Relationship Id="rId28" Type="http://schemas.openxmlformats.org/officeDocument/2006/relationships/font" Target="fonts/font11.fntdata"/><Relationship Id="rId29" Type="http://schemas.openxmlformats.org/officeDocument/2006/relationships/font" Target="fonts/font12.fntdata"/><Relationship Id="rId30" Type="http://schemas.openxmlformats.org/officeDocument/2006/relationships/font" Target="fonts/font13.fntdata"/><Relationship Id="rId31" Type="http://schemas.openxmlformats.org/officeDocument/2006/relationships/font" Target="fonts/font14.fntdata"/><Relationship Id="rId32" Type="http://schemas.openxmlformats.org/officeDocument/2006/relationships/font" Target="fonts/font15.fntdata"/><Relationship Id="rId33" Type="http://schemas.openxmlformats.org/officeDocument/2006/relationships/font" Target="fonts/font16.fntdata"/><Relationship Id="rId34" Type="http://schemas.openxmlformats.org/officeDocument/2006/relationships/font" Target="fonts/font17.fntdata"/><Relationship Id="rId35" Type="http://schemas.openxmlformats.org/officeDocument/2006/relationships/font" Target="fonts/font18.fntdata"/><Relationship Id="rId36" Type="http://schemas.openxmlformats.org/officeDocument/2006/relationships/font" Target="fonts/font19.fntdata"/><Relationship Id="rId37" Type="http://schemas.openxmlformats.org/officeDocument/2006/relationships/font" Target="fonts/font20.fntdata"/><Relationship Id="rId38" Type="http://schemas.openxmlformats.org/officeDocument/2006/relationships/font" Target="fonts/font21.fntdata"/><Relationship Id="rId39" Type="http://schemas.openxmlformats.org/officeDocument/2006/relationships/font" Target="fonts/font2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B4CD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80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B4CD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7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_logo_convert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502920"/>
            <a:ext cx="960120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55448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5FAFF"/>
                </a:solidFill>
                <a:latin typeface="Aptos"/>
              </a:defRPr>
            </a:pPr>
            <a:r>
              <a:t>PROJECT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32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00D2E6"/>
                </a:solidFill>
                <a:latin typeface="Aptos"/>
              </a:defRPr>
            </a:pPr>
            <a:r>
              <a:t>Design and Simulation of a Digital Data Transmission Error Detection System Using XOR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2788920"/>
            <a:ext cx="8183879" cy="512064"/>
          </a:xfrm>
          <a:prstGeom prst="roundRect">
            <a:avLst/>
          </a:prstGeom>
          <a:solidFill>
            <a:srgbClr val="13223D"/>
          </a:solidFill>
          <a:ln>
            <a:solidFill>
              <a:srgbClr val="26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2825496"/>
            <a:ext cx="7726679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0">
                <a:solidFill>
                  <a:srgbClr val="F5FAFF"/>
                </a:solidFill>
                <a:latin typeface="Aptos"/>
              </a:defRPr>
            </a:pPr>
            <a:r>
              <a:t>2620080084   —   N Sai Maneesh Reddy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3447287"/>
            <a:ext cx="8183879" cy="512064"/>
          </a:xfrm>
          <a:prstGeom prst="roundRect">
            <a:avLst/>
          </a:prstGeom>
          <a:solidFill>
            <a:srgbClr val="13223D"/>
          </a:solidFill>
          <a:ln>
            <a:solidFill>
              <a:srgbClr val="26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3483863"/>
            <a:ext cx="7726679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0">
                <a:solidFill>
                  <a:srgbClr val="F5FAFF"/>
                </a:solidFill>
                <a:latin typeface="Aptos"/>
              </a:defRPr>
            </a:pPr>
            <a:r>
              <a:t>2620080096   —   K Jaswanth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105656"/>
            <a:ext cx="8183879" cy="512064"/>
          </a:xfrm>
          <a:prstGeom prst="roundRect">
            <a:avLst/>
          </a:prstGeom>
          <a:solidFill>
            <a:srgbClr val="13223D"/>
          </a:solidFill>
          <a:ln>
            <a:solidFill>
              <a:srgbClr val="26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4142232"/>
            <a:ext cx="7726679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0">
                <a:solidFill>
                  <a:srgbClr val="F5FAFF"/>
                </a:solidFill>
                <a:latin typeface="Aptos"/>
              </a:defRPr>
            </a:pPr>
            <a:r>
              <a:t>2620080117   —   G Sai Harsha Vardhan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4764024"/>
            <a:ext cx="8183879" cy="512064"/>
          </a:xfrm>
          <a:prstGeom prst="roundRect">
            <a:avLst/>
          </a:prstGeom>
          <a:solidFill>
            <a:srgbClr val="13223D"/>
          </a:solidFill>
          <a:ln>
            <a:solidFill>
              <a:srgbClr val="26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4800600"/>
            <a:ext cx="7726679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0">
                <a:solidFill>
                  <a:srgbClr val="F5FAFF"/>
                </a:solidFill>
                <a:latin typeface="Aptos"/>
              </a:defRPr>
            </a:pPr>
            <a:r>
              <a:t>2620030298   —   C Joshith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82A0BE"/>
                </a:solidFill>
                <a:latin typeface="Aptos"/>
              </a:defRPr>
            </a:pPr>
            <a:r>
              <a:t>DIGITAL SYSTEMS  •  XOR ERROR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21808"/>
            <a:ext cx="10332720" cy="56692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CE6F5"/>
                </a:solidFill>
                <a:latin typeface="Aptos"/>
              </a:rPr>
              <a:t>Guide: Dr. Venkanna Isampalli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CE6F5"/>
                </a:solidFill>
                <a:latin typeface="Aptos"/>
              </a:rPr>
              <a:t>Department of Freshman Engineering Department  |  Koneru Lakshmaiah Education Foundation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CE6F5"/>
                </a:solidFill>
                <a:latin typeface="Aptos"/>
              </a:rPr>
              <a:t>Academic Year: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914400"/>
            <a:ext cx="6476838" cy="4882158"/>
          </a:xfrm>
          <a:prstGeom prst="roundRect">
            <a:avLst>
              <a:gd name="adj" fmla="val 6867"/>
            </a:avLst>
          </a:prstGeom>
          <a:solidFill>
            <a:srgbClr val="FFF8EE"/>
          </a:solidFill>
        </p:spPr>
      </p:sp>
      <p:sp>
        <p:nvSpPr>
          <p:cNvPr id="3" name="Shape 1"/>
          <p:cNvSpPr/>
          <p:nvPr/>
        </p:nvSpPr>
        <p:spPr>
          <a:xfrm>
            <a:off x="1066773" y="1270000"/>
            <a:ext cx="3471974" cy="321965"/>
          </a:xfrm>
          <a:prstGeom prst="roundRect">
            <a:avLst>
              <a:gd name="adj" fmla="val 33133"/>
            </a:avLst>
          </a:prstGeom>
          <a:solidFill>
            <a:srgbClr val="802626"/>
          </a:solidFill>
        </p:spPr>
      </p:sp>
      <p:sp>
        <p:nvSpPr>
          <p:cNvPr id="4" name="Text 2"/>
          <p:cNvSpPr/>
          <p:nvPr/>
        </p:nvSpPr>
        <p:spPr>
          <a:xfrm>
            <a:off x="1193770" y="1337449"/>
            <a:ext cx="3827565" cy="19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7" dirty="0">
                <a:solidFill>
                  <a:srgbClr val="FFF8EE"/>
                </a:solidFill>
                <a:latin typeface="DM Mono Medium" panose="020B0609040201040103" pitchFamily="34" charset="0"/>
                <a:ea typeface="DM Mono Medium" panose="020B0609040201040103" pitchFamily="34" charset="-122"/>
                <a:cs typeface="DM Mono Medium" panose="020B0609040201040103" pitchFamily="34" charset="-120"/>
              </a:rPr>
              <a:t>DIGITAL SYSTEMS · GUIDED BUILD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66773" y="1703228"/>
            <a:ext cx="5714857" cy="2880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200" kern="100" spc="-63" dirty="0">
                <a:solidFill>
                  <a:srgbClr val="5E1C1C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Design and Simulation of a Digital Data Transmission Error Detection System Using XOR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66773" y="4758035"/>
            <a:ext cx="6324442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From binary signals to a CPU-controlled detector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773" y="5226645"/>
            <a:ext cx="6324442" cy="2143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802626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 modular simulation of transmission, corruption, checking, and reporting</a:t>
            </a:r>
            <a:endParaRPr lang="en-US" sz="1250" dirty="0"/>
          </a:p>
        </p:txBody>
      </p:sp>
      <p:pic>
        <p:nvPicPr>
          <p:cNvPr id="8" name="Picture 7" descr="kl_logo_convert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9728" y="146304"/>
            <a:ext cx="438912" cy="43891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433973" cy="321965"/>
          </a:xfrm>
          <a:prstGeom prst="roundRect">
            <a:avLst>
              <a:gd name="adj" fmla="val 33133"/>
            </a:avLst>
          </a:prstGeom>
          <a:solidFill>
            <a:srgbClr val="B4CDC2"/>
          </a:solidFill>
        </p:spPr>
      </p:sp>
      <p:sp>
        <p:nvSpPr>
          <p:cNvPr id="3" name="Text 1"/>
          <p:cNvSpPr/>
          <p:nvPr/>
        </p:nvSpPr>
        <p:spPr>
          <a:xfrm>
            <a:off x="736582" y="677049"/>
            <a:ext cx="1789564" cy="19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7" dirty="0">
                <a:solidFill>
                  <a:srgbClr val="802626"/>
                </a:solidFill>
                <a:latin typeface="DM Mono Medium" panose="020B0609040201040103" pitchFamily="34" charset="0"/>
                <a:ea typeface="DM Mono Medium" panose="020B0609040201040103" pitchFamily="34" charset="-122"/>
                <a:cs typeface="DM Mono Medium" panose="020B0609040201040103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170666"/>
            <a:ext cx="5821614" cy="22538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800" b="1" kern="100" spc="-145" dirty="0">
                <a:solidFill>
                  <a:srgbClr val="B4CDC2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One flipped bit</a:t>
            </a:r>
            <a:endParaRPr lang="en-US" sz="58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5800" b="1" kern="100" spc="-145" dirty="0">
                <a:solidFill>
                  <a:srgbClr val="B4CDC2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can change the message.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09585" y="3566418"/>
            <a:ext cx="5821614" cy="6399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B4CDC2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 receiver may see a valid-looking word even when noise changed one transmitted signal.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7873" y="0"/>
            <a:ext cx="4693822" cy="6858000"/>
          </a:xfrm>
          <a:prstGeom prst="roundRect">
            <a:avLst>
              <a:gd name="adj" fmla="val 7143"/>
            </a:avLst>
          </a:prstGeom>
          <a:solidFill>
            <a:srgbClr val="B4CDC2"/>
          </a:solidFill>
        </p:spPr>
      </p:sp>
      <p:sp>
        <p:nvSpPr>
          <p:cNvPr id="7" name="Text 5"/>
          <p:cNvSpPr/>
          <p:nvPr/>
        </p:nvSpPr>
        <p:spPr>
          <a:xfrm>
            <a:off x="8107457" y="1539478"/>
            <a:ext cx="3474653" cy="333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What this project does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107457" y="2011759"/>
            <a:ext cx="3474653" cy="23772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Generate and transmit a message through a noisy channel.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Inject a controlled error; the receiver checker detects corruption with XOR-based logic.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Simulate the transmitter, receiver, checker, and CPU-controlled testbench.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07457" y="4623991"/>
            <a:ext cx="1146543" cy="38100"/>
          </a:xfrm>
          <a:prstGeom prst="roundRect">
            <a:avLst>
              <a:gd name="adj" fmla="val 49999"/>
            </a:avLst>
          </a:prstGeom>
          <a:solidFill>
            <a:srgbClr val="802626"/>
          </a:solidFill>
        </p:spPr>
      </p:sp>
      <p:sp>
        <p:nvSpPr>
          <p:cNvPr id="10" name="Text 8"/>
          <p:cNvSpPr/>
          <p:nvPr/>
        </p:nvSpPr>
        <p:spPr>
          <a:xfrm>
            <a:off x="8107457" y="4897041"/>
            <a:ext cx="3474653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Error detection identifies corruption; it does not automatically repair the data.</a:t>
            </a:r>
            <a:endParaRPr lang="en-US" sz="1250" dirty="0"/>
          </a:p>
        </p:txBody>
      </p:sp>
      <p:pic>
        <p:nvPicPr>
          <p:cNvPr id="11" name="Picture 10" descr="kl_logo_convert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9728" y="146304"/>
            <a:ext cx="438912" cy="43891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3364721" cy="321965"/>
          </a:xfrm>
          <a:prstGeom prst="roundRect">
            <a:avLst>
              <a:gd name="adj" fmla="val 33133"/>
            </a:avLst>
          </a:prstGeom>
          <a:solidFill>
            <a:srgbClr val="802626"/>
          </a:solidFill>
        </p:spPr>
      </p:sp>
      <p:sp>
        <p:nvSpPr>
          <p:cNvPr id="3" name="Text 1"/>
          <p:cNvSpPr/>
          <p:nvPr/>
        </p:nvSpPr>
        <p:spPr>
          <a:xfrm>
            <a:off x="736582" y="677049"/>
            <a:ext cx="3720312" cy="19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7" dirty="0">
                <a:solidFill>
                  <a:srgbClr val="FFF8EE"/>
                </a:solidFill>
                <a:latin typeface="DM Mono Medium" panose="020B0609040201040103" pitchFamily="34" charset="0"/>
                <a:ea typeface="DM Mono Medium" panose="020B0609040201040103" pitchFamily="34" charset="-122"/>
                <a:cs typeface="DM Mono Medium" panose="020B0609040201040103" pitchFamily="34" charset="-120"/>
              </a:rPr>
              <a:t>MODULE 1 · THE LOGIC ALPHABET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36123"/>
            <a:ext cx="6995045" cy="4663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51" dirty="0">
                <a:solidFill>
                  <a:srgbClr val="802626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Bits become a parity decision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683643"/>
            <a:ext cx="6995045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Digital circuits represent information with 0 and 1. XOR returns 1 when inputs differ and 0 when they match.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36713"/>
            <a:ext cx="6995045" cy="3445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2863850"/>
            <a:ext cx="7604629" cy="2143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6E2424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 four-input XOR tree reduces the data word to one parity bit.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357" y="3262313"/>
            <a:ext cx="5595401" cy="24129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87278" y="3546746"/>
            <a:ext cx="3077048" cy="1585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100" spc="-15" dirty="0">
                <a:solidFill>
                  <a:srgbClr val="000000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d0 ⊕ d1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687278" y="4106287"/>
            <a:ext cx="3077048" cy="1585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100" spc="-15" dirty="0">
                <a:solidFill>
                  <a:srgbClr val="000000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d2 ⊕ d3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687278" y="4660232"/>
            <a:ext cx="3077048" cy="1585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100" spc="-15" dirty="0">
                <a:solidFill>
                  <a:srgbClr val="000000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Intermediate ⊕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687278" y="5214178"/>
            <a:ext cx="3077048" cy="1585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100" spc="-15" dirty="0">
                <a:solidFill>
                  <a:srgbClr val="000000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Parity p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0888" y="609600"/>
            <a:ext cx="2301222" cy="5638800"/>
          </a:xfrm>
          <a:prstGeom prst="rect">
            <a:avLst/>
          </a:prstGeom>
        </p:spPr>
      </p:pic>
      <p:pic>
        <p:nvPicPr>
          <p:cNvPr id="14" name="Picture 13" descr="kl_logo_conver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9728" y="146304"/>
            <a:ext cx="438912" cy="43891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3471974" cy="321965"/>
          </a:xfrm>
          <a:prstGeom prst="roundRect">
            <a:avLst>
              <a:gd name="adj" fmla="val 33133"/>
            </a:avLst>
          </a:prstGeom>
          <a:solidFill>
            <a:srgbClr val="802626"/>
          </a:solidFill>
        </p:spPr>
      </p:sp>
      <p:sp>
        <p:nvSpPr>
          <p:cNvPr id="3" name="Text 1"/>
          <p:cNvSpPr/>
          <p:nvPr/>
        </p:nvSpPr>
        <p:spPr>
          <a:xfrm>
            <a:off x="736582" y="677049"/>
            <a:ext cx="3827565" cy="19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7" dirty="0">
                <a:solidFill>
                  <a:srgbClr val="FFF8EE"/>
                </a:solidFill>
                <a:latin typeface="DM Mono Medium" panose="020B0609040201040103" pitchFamily="34" charset="0"/>
                <a:ea typeface="DM Mono Medium" panose="020B0609040201040103" pitchFamily="34" charset="-122"/>
                <a:cs typeface="DM Mono Medium" panose="020B0609040201040103" pitchFamily="34" charset="-120"/>
              </a:rPr>
              <a:t>MODULE 2 · COMBINATIONAL LOGIC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36123"/>
            <a:ext cx="7386155" cy="9326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51" dirty="0">
                <a:solidFill>
                  <a:srgbClr val="802626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The parity checker recomputes, then compares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2149971"/>
            <a:ext cx="7386155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Combinational logic depends only on the current inputs. The receiver recomputes parity from the received data and parity bit.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2903041"/>
            <a:ext cx="3540632" cy="2574429"/>
          </a:xfrm>
          <a:prstGeom prst="roundRect">
            <a:avLst>
              <a:gd name="adj" fmla="val 13023"/>
            </a:avLst>
          </a:prstGeom>
          <a:solidFill>
            <a:srgbClr val="FFF8EE"/>
          </a:solidFill>
        </p:spPr>
      </p:sp>
      <p:sp>
        <p:nvSpPr>
          <p:cNvPr id="7" name="Text 5"/>
          <p:cNvSpPr/>
          <p:nvPr/>
        </p:nvSpPr>
        <p:spPr>
          <a:xfrm>
            <a:off x="838179" y="3138785"/>
            <a:ext cx="3083443" cy="333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E1C1C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Generator</a:t>
            </a:r>
            <a:endParaRPr lang="en-US" sz="2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3585666"/>
            <a:ext cx="3083443" cy="3445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8179" y="4050903"/>
            <a:ext cx="3083443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Creates the parity bit before transmission.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55009" y="2903041"/>
            <a:ext cx="3540731" cy="2574429"/>
          </a:xfrm>
          <a:prstGeom prst="roundRect">
            <a:avLst>
              <a:gd name="adj" fmla="val 13023"/>
            </a:avLst>
          </a:prstGeom>
          <a:solidFill>
            <a:srgbClr val="F99D1B"/>
          </a:solidFill>
        </p:spPr>
      </p:sp>
      <p:sp>
        <p:nvSpPr>
          <p:cNvPr id="11" name="Text 8"/>
          <p:cNvSpPr/>
          <p:nvPr/>
        </p:nvSpPr>
        <p:spPr>
          <a:xfrm>
            <a:off x="4683603" y="3138785"/>
            <a:ext cx="3083542" cy="333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A1818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Checker</a:t>
            </a:r>
            <a:endParaRPr lang="en-US" sz="2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603" y="3585666"/>
            <a:ext cx="3083542" cy="6891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83603" y="4395490"/>
            <a:ext cx="3083542" cy="8533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5A181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For even parity, </a:t>
            </a:r>
            <a:r>
              <a:rPr lang="en-US" sz="1600" b="1" dirty="0">
                <a:solidFill>
                  <a:srgbClr val="5A1818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error = 1</a:t>
            </a:r>
            <a:r>
              <a:rPr lang="en-US" sz="1600" dirty="0">
                <a:solidFill>
                  <a:srgbClr val="5A181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means the received word violates the rule.</a:t>
            </a:r>
            <a:endParaRPr lang="en-US" sz="16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999" y="609600"/>
            <a:ext cx="1910112" cy="5638800"/>
          </a:xfrm>
          <a:prstGeom prst="rect">
            <a:avLst/>
          </a:prstGeom>
        </p:spPr>
      </p:pic>
      <p:pic>
        <p:nvPicPr>
          <p:cNvPr id="15" name="Picture 14" descr="kl_logo_conver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9728" y="146304"/>
            <a:ext cx="438912" cy="43891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3150117" cy="321965"/>
          </a:xfrm>
          <a:prstGeom prst="roundRect">
            <a:avLst>
              <a:gd name="adj" fmla="val 33133"/>
            </a:avLst>
          </a:prstGeom>
          <a:solidFill>
            <a:srgbClr val="802626"/>
          </a:solidFill>
        </p:spPr>
      </p:sp>
      <p:sp>
        <p:nvSpPr>
          <p:cNvPr id="3" name="Text 1"/>
          <p:cNvSpPr/>
          <p:nvPr/>
        </p:nvSpPr>
        <p:spPr>
          <a:xfrm>
            <a:off x="736582" y="677049"/>
            <a:ext cx="3505708" cy="19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7" dirty="0">
                <a:solidFill>
                  <a:srgbClr val="FFF8EE"/>
                </a:solidFill>
                <a:latin typeface="DM Mono Medium" panose="020B0609040201040103" pitchFamily="34" charset="0"/>
                <a:ea typeface="DM Mono Medium" panose="020B0609040201040103" pitchFamily="34" charset="-122"/>
                <a:cs typeface="DM Mono Medium" panose="020B0609040201040103" pitchFamily="34" charset="-120"/>
              </a:rPr>
              <a:t>MODULE 3 · SEQUENTIAL LOGIC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36123"/>
            <a:ext cx="6995045" cy="9326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51" dirty="0">
                <a:solidFill>
                  <a:srgbClr val="802626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A clock gives the detector a timeline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2149971"/>
            <a:ext cx="6995045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Registers hold the payload, parity bit, transmitted frame, and received frame. A clocked controller makes each phase repeatable.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903041"/>
            <a:ext cx="6995045" cy="29001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3858" y="3601390"/>
            <a:ext cx="1770019" cy="1981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kern="100" spc="-19" dirty="0">
                <a:solidFill>
                  <a:srgbClr val="5E1C1C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IDLE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731" y="3518614"/>
            <a:ext cx="349749" cy="3497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70337" y="3594395"/>
            <a:ext cx="1770019" cy="1981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kern="100" spc="-19" dirty="0">
                <a:solidFill>
                  <a:srgbClr val="5E1C1C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LOAD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755" y="3504624"/>
            <a:ext cx="349749" cy="34975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07383" y="4930468"/>
            <a:ext cx="1770019" cy="1981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kern="100" spc="-19" dirty="0">
                <a:solidFill>
                  <a:srgbClr val="5E1C1C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TRANSMIT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760" y="4854687"/>
            <a:ext cx="349749" cy="34975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3858" y="4930468"/>
            <a:ext cx="1770019" cy="1981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kern="100" spc="-19" dirty="0">
                <a:solidFill>
                  <a:srgbClr val="5E1C1C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CHECK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2736" y="4854687"/>
            <a:ext cx="349749" cy="34975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09585" y="5885755"/>
            <a:ext cx="7604629" cy="2143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6E2424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Milestone: a working frame register, counter, and controller FSM.</a:t>
            </a:r>
            <a:endParaRPr lang="en-US" sz="12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0888" y="609600"/>
            <a:ext cx="2301222" cy="5638800"/>
          </a:xfrm>
          <a:prstGeom prst="rect">
            <a:avLst/>
          </a:prstGeom>
        </p:spPr>
      </p:pic>
      <p:pic>
        <p:nvPicPr>
          <p:cNvPr id="17" name="Picture 16" descr="kl_logo_conver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9728" y="146304"/>
            <a:ext cx="438912" cy="43891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184742" cy="321965"/>
          </a:xfrm>
          <a:prstGeom prst="roundRect">
            <a:avLst>
              <a:gd name="adj" fmla="val 33133"/>
            </a:avLst>
          </a:prstGeom>
          <a:solidFill>
            <a:srgbClr val="802626"/>
          </a:solidFill>
        </p:spPr>
      </p:sp>
      <p:sp>
        <p:nvSpPr>
          <p:cNvPr id="3" name="Text 1"/>
          <p:cNvSpPr/>
          <p:nvPr/>
        </p:nvSpPr>
        <p:spPr>
          <a:xfrm>
            <a:off x="736582" y="677049"/>
            <a:ext cx="2540333" cy="19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7" dirty="0">
                <a:solidFill>
                  <a:srgbClr val="FFF8EE"/>
                </a:solidFill>
                <a:latin typeface="DM Mono Medium" panose="020B0609040201040103" pitchFamily="34" charset="0"/>
                <a:ea typeface="DM Mono Medium" panose="020B0609040201040103" pitchFamily="34" charset="-122"/>
                <a:cs typeface="DM Mono Medium" panose="020B0609040201040103" pitchFamily="34" charset="-120"/>
              </a:rPr>
              <a:t>MODULE 4 · STORAGE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36123"/>
            <a:ext cx="8559586" cy="9326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51" dirty="0">
                <a:solidFill>
                  <a:srgbClr val="802626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Registers and memory store the experiment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2149971"/>
            <a:ext cx="8559586" cy="10375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ROM supplies test vectors and expected outcomes; registers and RAM capture results for replay.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Payload → parity → frame → received frame → result register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3371652"/>
            <a:ext cx="2649967" cy="2822476"/>
          </a:xfrm>
          <a:prstGeom prst="roundRect">
            <a:avLst>
              <a:gd name="adj" fmla="val 12652"/>
            </a:avLst>
          </a:prstGeom>
          <a:solidFill>
            <a:srgbClr val="FFF8EE"/>
          </a:solidFill>
        </p:spPr>
      </p:sp>
      <p:sp>
        <p:nvSpPr>
          <p:cNvPr id="7" name="Shape 5"/>
          <p:cNvSpPr/>
          <p:nvPr/>
        </p:nvSpPr>
        <p:spPr>
          <a:xfrm>
            <a:off x="838179" y="3600252"/>
            <a:ext cx="394980" cy="381000"/>
          </a:xfrm>
          <a:prstGeom prst="ellipse">
            <a:avLst/>
          </a:prstGeom>
          <a:solidFill>
            <a:srgbClr val="802626"/>
          </a:solidFill>
        </p:spPr>
      </p:sp>
      <p:sp>
        <p:nvSpPr>
          <p:cNvPr id="8" name="Text 6"/>
          <p:cNvSpPr/>
          <p:nvPr/>
        </p:nvSpPr>
        <p:spPr>
          <a:xfrm>
            <a:off x="933427" y="3695502"/>
            <a:ext cx="814069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F8EE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179" y="4070945"/>
            <a:ext cx="2192779" cy="333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E1C1C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ROM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38179" y="4543227"/>
            <a:ext cx="2192779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Test vectors and expected outcomes.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64344" y="3371652"/>
            <a:ext cx="2649967" cy="2822476"/>
          </a:xfrm>
          <a:prstGeom prst="roundRect">
            <a:avLst>
              <a:gd name="adj" fmla="val 12652"/>
            </a:avLst>
          </a:prstGeom>
          <a:solidFill>
            <a:srgbClr val="FFF8EE"/>
          </a:solidFill>
        </p:spPr>
      </p:sp>
      <p:sp>
        <p:nvSpPr>
          <p:cNvPr id="12" name="Shape 10"/>
          <p:cNvSpPr/>
          <p:nvPr/>
        </p:nvSpPr>
        <p:spPr>
          <a:xfrm>
            <a:off x="3792939" y="3600252"/>
            <a:ext cx="421570" cy="381000"/>
          </a:xfrm>
          <a:prstGeom prst="ellipse">
            <a:avLst/>
          </a:prstGeom>
          <a:solidFill>
            <a:srgbClr val="802626"/>
          </a:solidFill>
        </p:spPr>
      </p:sp>
      <p:sp>
        <p:nvSpPr>
          <p:cNvPr id="13" name="Text 11"/>
          <p:cNvSpPr/>
          <p:nvPr/>
        </p:nvSpPr>
        <p:spPr>
          <a:xfrm>
            <a:off x="3888186" y="3695502"/>
            <a:ext cx="840659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F8EE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2939" y="4070945"/>
            <a:ext cx="2192779" cy="333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E1C1C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Registers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792939" y="4543227"/>
            <a:ext cx="2192779" cy="8533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Current payload, transmitted frame, and received frame.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19104" y="3371652"/>
            <a:ext cx="2650067" cy="2822476"/>
          </a:xfrm>
          <a:prstGeom prst="roundRect">
            <a:avLst>
              <a:gd name="adj" fmla="val 12651"/>
            </a:avLst>
          </a:prstGeom>
          <a:solidFill>
            <a:srgbClr val="F99D1B"/>
          </a:solidFill>
        </p:spPr>
      </p:sp>
      <p:sp>
        <p:nvSpPr>
          <p:cNvPr id="17" name="Shape 15"/>
          <p:cNvSpPr/>
          <p:nvPr/>
        </p:nvSpPr>
        <p:spPr>
          <a:xfrm>
            <a:off x="6747698" y="3600252"/>
            <a:ext cx="426531" cy="381000"/>
          </a:xfrm>
          <a:prstGeom prst="ellipse">
            <a:avLst/>
          </a:prstGeom>
          <a:solidFill>
            <a:srgbClr val="802626"/>
          </a:solidFill>
        </p:spPr>
      </p:sp>
      <p:sp>
        <p:nvSpPr>
          <p:cNvPr id="18" name="Text 16"/>
          <p:cNvSpPr/>
          <p:nvPr/>
        </p:nvSpPr>
        <p:spPr>
          <a:xfrm>
            <a:off x="6842946" y="3695502"/>
            <a:ext cx="84562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F8EE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47698" y="4070945"/>
            <a:ext cx="2192878" cy="333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A1818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RAM / result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747698" y="4543227"/>
            <a:ext cx="2192878" cy="142230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5A181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Captured frames, error flags, and run counts. Replay clean, single-bit-error, and multi-bit-error cases.</a:t>
            </a:r>
            <a:endParaRPr lang="en-US" sz="16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5529" y="609600"/>
            <a:ext cx="736582" cy="5638800"/>
          </a:xfrm>
          <a:prstGeom prst="rect">
            <a:avLst/>
          </a:prstGeom>
        </p:spPr>
      </p:pic>
      <p:pic>
        <p:nvPicPr>
          <p:cNvPr id="22" name="Picture 21" descr="kl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28" y="146304"/>
            <a:ext cx="438912" cy="43891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935611" cy="321965"/>
          </a:xfrm>
          <a:prstGeom prst="roundRect">
            <a:avLst>
              <a:gd name="adj" fmla="val 33133"/>
            </a:avLst>
          </a:prstGeom>
          <a:solidFill>
            <a:srgbClr val="802626"/>
          </a:solidFill>
        </p:spPr>
      </p:sp>
      <p:sp>
        <p:nvSpPr>
          <p:cNvPr id="3" name="Text 1"/>
          <p:cNvSpPr/>
          <p:nvPr/>
        </p:nvSpPr>
        <p:spPr>
          <a:xfrm>
            <a:off x="736582" y="677049"/>
            <a:ext cx="3291202" cy="19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7" dirty="0">
                <a:solidFill>
                  <a:srgbClr val="FFF8EE"/>
                </a:solidFill>
                <a:latin typeface="DM Mono Medium" panose="020B0609040201040103" pitchFamily="34" charset="0"/>
                <a:ea typeface="DM Mono Medium" panose="020B0609040201040103" pitchFamily="34" charset="-122"/>
                <a:cs typeface="DM Mono Medium" panose="020B0609040201040103" pitchFamily="34" charset="-120"/>
              </a:rPr>
              <a:t>MODULE 5 · RISC-V CONTROL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36123"/>
            <a:ext cx="6995045" cy="9326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51" dirty="0">
                <a:solidFill>
                  <a:srgbClr val="802626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The CPU turns the detector into a co-design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2149971"/>
            <a:ext cx="6995045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The RISC-V datapath fetches instructions, reads registers, drives the XOR/parity unit, and stores the result.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903041"/>
            <a:ext cx="5574565" cy="311140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0888" y="609600"/>
            <a:ext cx="2301222" cy="5638800"/>
          </a:xfrm>
          <a:prstGeom prst="rect">
            <a:avLst/>
          </a:prstGeom>
        </p:spPr>
      </p:pic>
      <p:pic>
        <p:nvPicPr>
          <p:cNvPr id="8" name="Picture 7" descr="kl_logo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9728" y="146304"/>
            <a:ext cx="438912" cy="43891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828358" cy="321965"/>
          </a:xfrm>
          <a:prstGeom prst="roundRect">
            <a:avLst>
              <a:gd name="adj" fmla="val 33133"/>
            </a:avLst>
          </a:prstGeom>
          <a:solidFill>
            <a:srgbClr val="802626"/>
          </a:solidFill>
        </p:spPr>
      </p:sp>
      <p:sp>
        <p:nvSpPr>
          <p:cNvPr id="3" name="Text 1"/>
          <p:cNvSpPr/>
          <p:nvPr/>
        </p:nvSpPr>
        <p:spPr>
          <a:xfrm>
            <a:off x="736582" y="677049"/>
            <a:ext cx="3183949" cy="19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7" dirty="0">
                <a:solidFill>
                  <a:srgbClr val="FFF8EE"/>
                </a:solidFill>
                <a:latin typeface="DM Mono Medium" panose="020B0609040201040103" pitchFamily="34" charset="0"/>
                <a:ea typeface="DM Mono Medium" panose="020B0609040201040103" pitchFamily="34" charset="-122"/>
                <a:cs typeface="DM Mono Medium" panose="020B0609040201040103" pitchFamily="34" charset="-120"/>
              </a:rPr>
              <a:t>MODULE 6 · THE EXTENSION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36123"/>
            <a:ext cx="7386155" cy="9326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51" dirty="0">
                <a:solidFill>
                  <a:srgbClr val="802626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One new operation makes the result visible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2149971"/>
            <a:ext cx="3540632" cy="2744986"/>
          </a:xfrm>
          <a:prstGeom prst="roundRect">
            <a:avLst>
              <a:gd name="adj" fmla="val 12214"/>
            </a:avLst>
          </a:prstGeom>
          <a:solidFill>
            <a:srgbClr val="FFF8EE"/>
          </a:solidFill>
        </p:spPr>
      </p:sp>
      <p:sp>
        <p:nvSpPr>
          <p:cNvPr id="6" name="Text 4"/>
          <p:cNvSpPr/>
          <p:nvPr/>
        </p:nvSpPr>
        <p:spPr>
          <a:xfrm>
            <a:off x="838179" y="2385715"/>
            <a:ext cx="3083443" cy="333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E1C1C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Original datapath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179" y="2857996"/>
            <a:ext cx="3083443" cy="12394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Decode the instruction.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Run the existing ALU operation.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Write the result back.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55009" y="2149971"/>
            <a:ext cx="3540731" cy="2744986"/>
          </a:xfrm>
          <a:prstGeom prst="roundRect">
            <a:avLst>
              <a:gd name="adj" fmla="val 12214"/>
            </a:avLst>
          </a:prstGeom>
          <a:solidFill>
            <a:srgbClr val="F99D1B"/>
          </a:solidFill>
        </p:spPr>
      </p:sp>
      <p:sp>
        <p:nvSpPr>
          <p:cNvPr id="9" name="Text 7"/>
          <p:cNvSpPr/>
          <p:nvPr/>
        </p:nvSpPr>
        <p:spPr>
          <a:xfrm>
            <a:off x="4683603" y="2385715"/>
            <a:ext cx="3083542" cy="333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A1818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Added boundary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683603" y="2857996"/>
            <a:ext cx="3083542" cy="1808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5A181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Add XOR to the decoder and ALU.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5A181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Expose </a:t>
            </a:r>
            <a:r>
              <a:rPr lang="en-US" sz="1600" b="1" dirty="0">
                <a:solidFill>
                  <a:srgbClr val="5A1818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error</a:t>
            </a:r>
            <a:r>
              <a:rPr lang="en-US" sz="1600" dirty="0">
                <a:solidFill>
                  <a:srgbClr val="5A181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through memory-mapped output.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5A181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Verify the visible flag against the injected fault.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585" y="5079107"/>
            <a:ext cx="7386155" cy="7924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The CPU you built now controls a real digital design extension.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1999" y="609600"/>
            <a:ext cx="1910112" cy="5638800"/>
          </a:xfrm>
          <a:prstGeom prst="rect">
            <a:avLst/>
          </a:prstGeom>
        </p:spPr>
      </p:pic>
      <p:pic>
        <p:nvPicPr>
          <p:cNvPr id="13" name="Picture 12" descr="kl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28" y="146304"/>
            <a:ext cx="438912" cy="43891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01738"/>
          </a:xfrm>
          <a:prstGeom prst="rect">
            <a:avLst/>
          </a:prstGeom>
          <a:solidFill>
            <a:srgbClr val="802626"/>
          </a:solidFill>
        </p:spPr>
      </p:sp>
      <p:sp>
        <p:nvSpPr>
          <p:cNvPr id="3" name="Shape 1"/>
          <p:cNvSpPr/>
          <p:nvPr/>
        </p:nvSpPr>
        <p:spPr>
          <a:xfrm>
            <a:off x="431789" y="254000"/>
            <a:ext cx="1433973" cy="321965"/>
          </a:xfrm>
          <a:prstGeom prst="roundRect">
            <a:avLst>
              <a:gd name="adj" fmla="val 33133"/>
            </a:avLst>
          </a:prstGeom>
          <a:solidFill>
            <a:srgbClr val="B4CDC2"/>
          </a:solidFill>
        </p:spPr>
      </p:sp>
      <p:sp>
        <p:nvSpPr>
          <p:cNvPr id="4" name="Text 2"/>
          <p:cNvSpPr/>
          <p:nvPr/>
        </p:nvSpPr>
        <p:spPr>
          <a:xfrm>
            <a:off x="558786" y="321449"/>
            <a:ext cx="1789564" cy="19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7" dirty="0">
                <a:solidFill>
                  <a:srgbClr val="802626"/>
                </a:solidFill>
                <a:latin typeface="DM Mono Medium" panose="020B0609040201040103" pitchFamily="34" charset="0"/>
                <a:ea typeface="DM Mono Medium" panose="020B0609040201040103" pitchFamily="34" charset="-122"/>
                <a:cs typeface="DM Mono Medium" panose="020B0609040201040103" pitchFamily="34" charset="-120"/>
              </a:rPr>
              <a:t>SYSTEM 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1789" y="680523"/>
            <a:ext cx="11328117" cy="4663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51" dirty="0">
                <a:solidFill>
                  <a:srgbClr val="B4CDC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Transmit → corrupt → check → report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31789" y="1328043"/>
            <a:ext cx="11759906" cy="2143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B4CDC2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The same frame is followed from source to visible result.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9585" y="2916138"/>
            <a:ext cx="3535671" cy="33322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Load a payload from ROM and calculate its parity with XOR.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Append the parity bit and transmit the frame.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Inject a controlled bit flip in the channel model.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Capture the received frame in a register.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Recompute parity, raise the error flag, and write the result to the output.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118" y="2932112"/>
            <a:ext cx="5912992" cy="3300313"/>
          </a:xfrm>
          <a:prstGeom prst="rect">
            <a:avLst/>
          </a:prstGeom>
        </p:spPr>
      </p:pic>
      <p:pic>
        <p:nvPicPr>
          <p:cNvPr id="9" name="Picture 8" descr="kl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28" y="146304"/>
            <a:ext cx="438912" cy="43891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862984" cy="321965"/>
          </a:xfrm>
          <a:prstGeom prst="roundRect">
            <a:avLst>
              <a:gd name="adj" fmla="val 33133"/>
            </a:avLst>
          </a:prstGeom>
          <a:solidFill>
            <a:srgbClr val="802626"/>
          </a:solidFill>
        </p:spPr>
      </p:sp>
      <p:sp>
        <p:nvSpPr>
          <p:cNvPr id="3" name="Text 1"/>
          <p:cNvSpPr/>
          <p:nvPr/>
        </p:nvSpPr>
        <p:spPr>
          <a:xfrm>
            <a:off x="736582" y="677049"/>
            <a:ext cx="2218575" cy="19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7" dirty="0">
                <a:solidFill>
                  <a:srgbClr val="FFF8EE"/>
                </a:solidFill>
                <a:latin typeface="DM Mono Medium" panose="020B0609040201040103" pitchFamily="34" charset="0"/>
                <a:ea typeface="DM Mono Medium" panose="020B0609040201040103" pitchFamily="34" charset="-122"/>
                <a:cs typeface="DM Mono Medium" panose="020B0609040201040103" pitchFamily="34" charset="-120"/>
              </a:rPr>
              <a:t>SIMULATION PLAN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36123"/>
            <a:ext cx="6995045" cy="9326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51" dirty="0">
                <a:solidFill>
                  <a:srgbClr val="802626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Prove the detector, then expose its blind spot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2149971"/>
            <a:ext cx="6995045" cy="8533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Replay controlled test vectors and compare the expected flag with the simulated output. Simple parity reliably detects any odd number of flipped bits, but can miss some even-numbered errors.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187502"/>
            <a:ext cx="6995045" cy="25228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5792887"/>
            <a:ext cx="7604629" cy="2143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6E2424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Simulation test matrix · CRC extension is optional; its result depends on the generator.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0888" y="609600"/>
            <a:ext cx="2301222" cy="5638800"/>
          </a:xfrm>
          <a:prstGeom prst="rect">
            <a:avLst/>
          </a:prstGeom>
        </p:spPr>
      </p:pic>
      <p:pic>
        <p:nvPicPr>
          <p:cNvPr id="9" name="Picture 8" descr="kl_logo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9728" y="146304"/>
            <a:ext cx="438912" cy="43891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3508</Words>
  <Application>WPS Presentation</Application>
  <PresentationFormat>On-screen Show (16:9)</PresentationFormat>
  <Paragraphs>152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40" baseType="lpstr">
      <vt:lpstr>Arial</vt:lpstr>
      <vt:lpstr>SimSun</vt:lpstr>
      <vt:lpstr>Wingdings</vt:lpstr>
      <vt:lpstr>DM Mono Medium</vt:lpstr>
      <vt:lpstr>DM Mono Medium</vt:lpstr>
      <vt:lpstr>DM Mono Medium</vt:lpstr>
      <vt:lpstr>Rubik SemiBold</vt:lpstr>
      <vt:lpstr>Rubik SemiBold</vt:lpstr>
      <vt:lpstr>Rubik SemiBold</vt:lpstr>
      <vt:lpstr>Atkinson Hyperlegible Next</vt:lpstr>
      <vt:lpstr>Atkinson Hyperlegible Next</vt:lpstr>
      <vt:lpstr>Atkinson Hyperlegible Next</vt:lpstr>
      <vt:lpstr>Rubik Bold</vt:lpstr>
      <vt:lpstr>Rubik Bold</vt:lpstr>
      <vt:lpstr>Rubik Bold</vt:lpstr>
      <vt:lpstr>Atkinson Hyperlegible Next Bold</vt:lpstr>
      <vt:lpstr>Atkinson Hyperlegible Next Bold</vt:lpstr>
      <vt:lpstr>Atkinson Hyperlegible Next Bold</vt:lpstr>
      <vt:lpstr>Atkinson Hyperlegible Next Medium</vt:lpstr>
      <vt:lpstr>Atkinson Hyperlegible Next Medium</vt:lpstr>
      <vt:lpstr>Atkinson Hyperlegible Next Medium</vt:lpstr>
      <vt:lpstr>Aptos</vt:lpstr>
      <vt:lpstr>Segoe UI</vt:lpstr>
      <vt:lpstr>Calibri</vt:lpstr>
      <vt:lpstr>Microsoft YaHei</vt:lpstr>
      <vt:lpstr>Arial Unicode MS</vt:lpstr>
      <vt:lpstr>MS PGothic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Srinivas Reddy</cp:lastModifiedBy>
  <cp:revision>2</cp:revision>
  <dcterms:created xsi:type="dcterms:W3CDTF">2026-10-14T15:21:00Z</dcterms:created>
  <dcterms:modified xsi:type="dcterms:W3CDTF">2026-10-15T00:52:14Z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0E952622CDC241289B218F98FDDE5528_12</vt:lpwstr>
  </property>
  <property fmtid="{D5CDD505-2E9C-101B-9397-08002B2CF9AE}" pid="3" name="KSOProductBuildVer">
    <vt:lpwstr>1033-12.1.0.29162</vt:lpwstr>
  </property>
</Properties>
</file>